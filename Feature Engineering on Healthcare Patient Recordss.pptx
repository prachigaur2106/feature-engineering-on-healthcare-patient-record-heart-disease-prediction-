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7" r:id="rId5"/>
    <p:sldId id="269" r:id="rId6"/>
    <p:sldId id="273" r:id="rId7"/>
    <p:sldId id="268" r:id="rId8"/>
    <p:sldId id="259" r:id="rId9"/>
    <p:sldId id="270" r:id="rId10"/>
    <p:sldId id="271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>
      <p:cViewPr varScale="1">
        <p:scale>
          <a:sx n="84" d="100"/>
          <a:sy n="84" d="100"/>
        </p:scale>
        <p:origin x="222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555555555555555E-2"/>
          <c:y val="0.11509514435695538"/>
          <c:w val="0.96944444444444444"/>
          <c:h val="0.82918263342082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88-48A0-A4D9-8D3B011BD9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88-48A0-A4D9-8D3B011BD9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88-48A0-A4D9-8D3B011BD9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888359400"/>
        <c:axId val="888367240"/>
      </c:barChart>
      <c:catAx>
        <c:axId val="8883594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8367240"/>
        <c:crosses val="autoZero"/>
        <c:auto val="1"/>
        <c:lblAlgn val="ctr"/>
        <c:lblOffset val="100"/>
        <c:noMultiLvlLbl val="0"/>
      </c:catAx>
      <c:valAx>
        <c:axId val="8883672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8835940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spPr>
      <a:prstGeom prst="rect">
        <a:avLst/>
      </a:prstGeom>
    </cs:spPr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3/11/2026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3/11/2026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3/11/2026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3/11/2026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3/11/2026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3/11/2026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60" y="116632"/>
            <a:ext cx="5231903" cy="4025452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Bahnschrift SemiBold Condensed" panose="020B0502040204020203" pitchFamily="34" charset="0"/>
              </a:rPr>
              <a:t>Heart Disease Prediction using Machine </a:t>
            </a:r>
            <a:r>
              <a:rPr lang="en-US" sz="6000" dirty="0" smtClean="0">
                <a:latin typeface="Bahnschrift SemiBold Condensed" panose="020B0502040204020203" pitchFamily="34" charset="0"/>
              </a:rPr>
              <a:t>Learning</a:t>
            </a:r>
            <a:br>
              <a:rPr lang="en-US" sz="6000" dirty="0" smtClean="0">
                <a:latin typeface="Bahnschrift SemiBold Condensed" panose="020B0502040204020203" pitchFamily="34" charset="0"/>
              </a:rPr>
            </a:br>
            <a:r>
              <a:rPr lang="en-US" sz="2000" dirty="0" smtClean="0">
                <a:latin typeface="Bahnschrift SemiBold Condensed" panose="020B0502040204020203" pitchFamily="34" charset="0"/>
              </a:rPr>
              <a:t>(Feature Engineering On Healthcare Patient Records)</a:t>
            </a:r>
            <a:endParaRPr lang="en-US" sz="2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006180"/>
            <a:ext cx="4098175" cy="1303140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Machine </a:t>
            </a:r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Learning Mini Project</a:t>
            </a:r>
            <a:b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Name </a:t>
            </a:r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– </a:t>
            </a:r>
            <a:r>
              <a:rPr lang="en-US" dirty="0" err="1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Prachi</a:t>
            </a:r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Gaur</a:t>
            </a:r>
            <a:b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dirty="0" err="1" smtClean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B.tech</a:t>
            </a:r>
            <a:r>
              <a:rPr lang="en-US" dirty="0" smtClean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(</a:t>
            </a:r>
            <a:r>
              <a:rPr lang="en-US" dirty="0" err="1" smtClean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cse</a:t>
            </a:r>
            <a:r>
              <a:rPr lang="en-US" dirty="0" smtClean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) </a:t>
            </a:r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/ </a:t>
            </a:r>
            <a:r>
              <a:rPr lang="en-US" dirty="0" smtClean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Lloyd institute of technology(</a:t>
            </a:r>
            <a:r>
              <a:rPr lang="en-US" dirty="0" err="1" smtClean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aktu</a:t>
            </a:r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)</a:t>
            </a:r>
            <a:b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 smtClean="0">
                <a:latin typeface="Arial Rounded MT Bold" panose="020F0704030504030204" pitchFamily="34" charset="0"/>
              </a:rPr>
              <a:t>Introduction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780928"/>
            <a:ext cx="9144000" cy="361987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Heart Disease Prediction using Machine </a:t>
            </a:r>
            <a:r>
              <a:rPr lang="en-US" sz="3200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Learning</a:t>
            </a:r>
          </a:p>
          <a:p>
            <a:r>
              <a:rPr lang="en-US" sz="32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Machine Learning can help doctors predict the possibility of heart disease based on patient health data.</a:t>
            </a:r>
            <a:endParaRPr lang="en-US" sz="3200" dirty="0" smtClean="0">
              <a:solidFill>
                <a:schemeClr val="tx1"/>
              </a:solidFill>
              <a:latin typeface="Bahnschrift SemiBold Condensed" panose="020B0502040204020203" pitchFamily="34" charset="0"/>
            </a:endParaRPr>
          </a:p>
          <a:p>
            <a:r>
              <a:rPr lang="en-US" sz="32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Feature Engineering improves model </a:t>
            </a:r>
            <a:r>
              <a:rPr lang="en-US" sz="3200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performance</a:t>
            </a:r>
          </a:p>
          <a:p>
            <a:r>
              <a:rPr lang="en-US" sz="32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I</a:t>
            </a:r>
            <a:r>
              <a:rPr lang="en-US" sz="3200" dirty="0" smtClean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n </a:t>
            </a:r>
            <a:r>
              <a:rPr lang="en-US" sz="32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this project, we use a </a:t>
            </a:r>
            <a:r>
              <a:rPr lang="en-US" sz="3200" b="1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Machine Learning model to predict whether a person has heart disease or not.</a:t>
            </a:r>
            <a:endParaRPr lang="en-US" sz="3200" dirty="0" smtClean="0">
              <a:solidFill>
                <a:schemeClr val="tx1"/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>
                <a:latin typeface="Arial Rounded MT Bold" panose="020F0704030504030204" pitchFamily="34" charset="0"/>
              </a:rPr>
              <a:t>Problem Statement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6" name="Content Placeholder 5" descr="Clustered column chart showing the values of 3 series for 4 categories. Vertical major axis gridlines are present for each of the 4 categorie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761305"/>
              </p:ext>
            </p:extLst>
          </p:nvPr>
        </p:nvGraphicFramePr>
        <p:xfrm>
          <a:off x="10416480" y="5949280"/>
          <a:ext cx="251520" cy="45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28192" y="2966197"/>
            <a:ext cx="907300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Bahnschrift SemiBold Condensed" panose="020B0502040204020203" pitchFamily="34" charset="0"/>
              </a:rPr>
              <a:t>The problem is to predict whether a person has heart disease or not using medical data such as age, cholesterol, blood pressure, and other health parameters by applying machine learning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/>
              <a:t>Dataset Description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75520" y="2636912"/>
            <a:ext cx="159691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Sex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Chest Pain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Blood Pressure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Cholesterol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Blood Sugar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ECG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Heart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Exercise Angina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ST Slope</a:t>
            </a:r>
          </a:p>
        </p:txBody>
      </p:sp>
      <p:sp>
        <p:nvSpPr>
          <p:cNvPr id="4" name="TextBox 3"/>
          <p:cNvSpPr txBox="1"/>
          <p:nvPr/>
        </p:nvSpPr>
        <p:spPr>
          <a:xfrm flipH="1">
            <a:off x="1775520" y="1916832"/>
            <a:ext cx="9217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Dataset contains the following features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5" name="Right Arrow 4"/>
          <p:cNvSpPr/>
          <p:nvPr/>
        </p:nvSpPr>
        <p:spPr>
          <a:xfrm>
            <a:off x="1524000" y="2060848"/>
            <a:ext cx="323528" cy="14401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3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 smtClean="0"/>
              <a:t>TOOLS &amp;TECHNOLOGY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24000" y="2735610"/>
            <a:ext cx="262924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Jupyter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 Notebook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NumPy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SemiBold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Matplotlib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SemiBold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Seaborn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SemiBold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Scikit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-learn</a:t>
            </a:r>
          </a:p>
        </p:txBody>
      </p:sp>
    </p:spTree>
    <p:extLst>
      <p:ext uri="{BB962C8B-B14F-4D97-AF65-F5344CB8AC3E}">
        <p14:creationId xmlns:p14="http://schemas.microsoft.com/office/powerpoint/2010/main" val="252655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 smtClean="0"/>
              <a:t>Data Processing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134590" y="3477122"/>
            <a:ext cx="727474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Check for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Load dataset using 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Convert categorical data into numeric values using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One Hot Encoding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SemiBold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Separate features and target variable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1703512" y="1943121"/>
            <a:ext cx="8136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Arial Black" panose="020B0A04020102020204" pitchFamily="34" charset="0"/>
              </a:rPr>
              <a:t>Before training the model , data needs to be prepared.</a:t>
            </a:r>
          </a:p>
          <a:p>
            <a:endParaRPr lang="en-IN" sz="2000" dirty="0">
              <a:latin typeface="Arial Black" panose="020B0A04020102020204" pitchFamily="34" charset="0"/>
            </a:endParaRPr>
          </a:p>
          <a:p>
            <a:r>
              <a:rPr lang="en-IN" sz="2000" dirty="0" smtClean="0">
                <a:latin typeface="Arial Black" panose="020B0A04020102020204" pitchFamily="34" charset="0"/>
              </a:rPr>
              <a:t>Step Performed:</a:t>
            </a:r>
            <a:endParaRPr lang="en-IN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02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/>
              <a:t>Feature Engineering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564904"/>
            <a:ext cx="9144000" cy="38358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New Features Created:</a:t>
            </a:r>
          </a:p>
          <a:p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Age Group (Young, Middle, Old)</a:t>
            </a:r>
          </a:p>
          <a:p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High Risk Indicator (Based on BP &amp; Cholesterol)</a:t>
            </a:r>
          </a:p>
          <a:p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Encoded Gender (Male = 1, Female = 0)</a:t>
            </a:r>
          </a:p>
          <a:p>
            <a:r>
              <a:rPr lang="en-US" dirty="0">
                <a:solidFill>
                  <a:schemeClr val="tx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Encoded Smoking (Yes = 1, No = 0)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Feature engineering helps improve model learnin</a:t>
            </a:r>
            <a:r>
              <a:rPr lang="en-US" dirty="0"/>
              <a:t>g.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5-Point Star 5"/>
          <p:cNvSpPr/>
          <p:nvPr/>
        </p:nvSpPr>
        <p:spPr>
          <a:xfrm>
            <a:off x="8616280" y="188640"/>
            <a:ext cx="1008112" cy="98525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>
                <a:latin typeface="Arial Rounded MT Bold" panose="020F0704030504030204" pitchFamily="34" charset="0"/>
              </a:rPr>
              <a:t>Correlation Analysis</a:t>
            </a:r>
            <a:endParaRPr lang="en-US" sz="60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5"/>
            <a:ext cx="4800600" cy="4411688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A </a:t>
            </a:r>
            <a:r>
              <a:rPr lang="en-US" sz="2800" b="1" dirty="0" err="1">
                <a:solidFill>
                  <a:schemeClr val="tx1"/>
                </a:solidFill>
                <a:latin typeface="Bahnschrift SemiBold Condensed" panose="020B0502040204020203" pitchFamily="34" charset="0"/>
              </a:rPr>
              <a:t>heatmap</a:t>
            </a:r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 was used to visualize relationships between different features in the dataset.</a:t>
            </a:r>
          </a:p>
          <a:p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It helps identify which variables are </a:t>
            </a:r>
            <a:r>
              <a:rPr lang="en-US" sz="2800" b="1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positively or negatively related</a:t>
            </a:r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 to heart disease.</a:t>
            </a:r>
          </a:p>
          <a:p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Features like </a:t>
            </a:r>
            <a:r>
              <a:rPr lang="en-US" sz="2800" b="1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Age, Cholesterol, Resting Blood Pressure, and </a:t>
            </a:r>
            <a:r>
              <a:rPr lang="en-US" sz="2800" b="1" dirty="0" err="1">
                <a:solidFill>
                  <a:schemeClr val="tx1"/>
                </a:solidFill>
                <a:latin typeface="Bahnschrift SemiBold Condensed" panose="020B0502040204020203" pitchFamily="34" charset="0"/>
              </a:rPr>
              <a:t>Oldpeak</a:t>
            </a:r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 show noticeable correlation with heart disease.</a:t>
            </a:r>
          </a:p>
          <a:p>
            <a:r>
              <a:rPr lang="en-US" sz="2800" b="1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Max Heart Rate (</a:t>
            </a:r>
            <a:r>
              <a:rPr lang="en-US" sz="2800" b="1" dirty="0" err="1">
                <a:solidFill>
                  <a:schemeClr val="tx1"/>
                </a:solidFill>
                <a:latin typeface="Bahnschrift SemiBold Condensed" panose="020B0502040204020203" pitchFamily="34" charset="0"/>
              </a:rPr>
              <a:t>MaxHR</a:t>
            </a:r>
            <a:r>
              <a:rPr lang="en-US" sz="2800" b="1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)</a:t>
            </a:r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 shows a negative correlation with heart disease.</a:t>
            </a:r>
          </a:p>
          <a:p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Correlation analysis helps in </a:t>
            </a:r>
            <a:r>
              <a:rPr lang="en-US" sz="2800" b="1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understanding important factors and selecting useful features for the model</a:t>
            </a:r>
            <a:r>
              <a:rPr lang="en-US" sz="28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.</a:t>
            </a:r>
          </a:p>
          <a:p>
            <a:endParaRPr lang="en-US" sz="28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578" y="1808464"/>
            <a:ext cx="6355422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/>
              <a:t>Model Building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423592" y="3211156"/>
            <a:ext cx="592021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Split dataset into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training data and testing data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SemiBold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Train the model using training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SemiBold Condensed" panose="020B0502040204020203" pitchFamily="34" charset="0"/>
              </a:rPr>
              <a:t>Predict results using test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5930" y="2087137"/>
            <a:ext cx="7826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 Black" panose="020B0A04020102020204" pitchFamily="34" charset="0"/>
              </a:rPr>
              <a:t>We Used Logistic Regression Algorithm:</a:t>
            </a:r>
            <a:endParaRPr lang="en-IN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2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>
                <a:latin typeface="Arial Rounded MT Bold" panose="020F0704030504030204" pitchFamily="34" charset="0"/>
              </a:rPr>
              <a:t>RESULTS</a:t>
            </a:r>
            <a:endParaRPr lang="en-US" sz="6600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24000" y="3204287"/>
            <a:ext cx="7380312" cy="2557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We built a heart disease prediction model</a:t>
            </a:r>
            <a:endParaRPr lang="en-US" sz="3200" dirty="0" smtClean="0">
              <a:solidFill>
                <a:schemeClr val="tx1"/>
              </a:solidFill>
              <a:latin typeface="Bahnschrift SemiBold Condensed" panose="020B0502040204020203" pitchFamily="34" charset="0"/>
              <a:cs typeface="Aparajita" panose="02020603050405020304" pitchFamily="18" charset="0"/>
            </a:endParaRPr>
          </a:p>
          <a:p>
            <a:r>
              <a:rPr lang="en-US" sz="3200" dirty="0" smtClean="0">
                <a:solidFill>
                  <a:schemeClr val="tx1"/>
                </a:solidFill>
                <a:latin typeface="Bahnschrift SemiBold Condensed" panose="020B0502040204020203" pitchFamily="34" charset="0"/>
                <a:cs typeface="Aparajita" panose="02020603050405020304" pitchFamily="18" charset="0"/>
              </a:rPr>
              <a:t>Feature </a:t>
            </a:r>
            <a:r>
              <a:rPr lang="en-US" sz="3200" dirty="0">
                <a:solidFill>
                  <a:schemeClr val="tx1"/>
                </a:solidFill>
                <a:latin typeface="Bahnschrift SemiBold Condensed" panose="020B0502040204020203" pitchFamily="34" charset="0"/>
                <a:cs typeface="Aparajita" panose="02020603050405020304" pitchFamily="18" charset="0"/>
              </a:rPr>
              <a:t>engineering improved performance</a:t>
            </a:r>
          </a:p>
          <a:p>
            <a:r>
              <a:rPr lang="en-US" sz="3200" dirty="0">
                <a:solidFill>
                  <a:schemeClr val="tx1"/>
                </a:solidFill>
                <a:latin typeface="Bahnschrift SemiBold Condensed" panose="020B0502040204020203" pitchFamily="34" charset="0"/>
                <a:cs typeface="Aparajita" panose="02020603050405020304" pitchFamily="18" charset="0"/>
              </a:rPr>
              <a:t>Achieved good accuracy on test </a:t>
            </a:r>
            <a:r>
              <a:rPr lang="en-US" sz="3200" dirty="0" smtClean="0">
                <a:solidFill>
                  <a:schemeClr val="tx1"/>
                </a:solidFill>
                <a:latin typeface="Bahnschrift SemiBold Condensed" panose="020B0502040204020203" pitchFamily="34" charset="0"/>
                <a:cs typeface="Aparajita" panose="02020603050405020304" pitchFamily="18" charset="0"/>
              </a:rPr>
              <a:t>data</a:t>
            </a:r>
            <a:endParaRPr lang="en-US" sz="3200" dirty="0">
              <a:solidFill>
                <a:schemeClr val="tx1"/>
              </a:solidFill>
              <a:latin typeface="Bahnschrift SemiBold Condensed" panose="020B0502040204020203" pitchFamily="34" charset="0"/>
              <a:cs typeface="Aparajita" panose="02020603050405020304" pitchFamily="18" charset="0"/>
            </a:endParaRPr>
          </a:p>
          <a:p>
            <a:r>
              <a:rPr lang="en-IN" sz="3200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Used Logistic Regression algorithm</a:t>
            </a:r>
            <a:endParaRPr lang="en-US" sz="3200" dirty="0">
              <a:solidFill>
                <a:schemeClr val="tx1"/>
              </a:solidFill>
              <a:latin typeface="Bahnschrift SemiBold Condensed" panose="020B0502040204020203" pitchFamily="34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075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9656" y="2708920"/>
            <a:ext cx="6984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 smtClean="0">
                <a:latin typeface="Algerian" panose="04020705040A02060702" pitchFamily="82" charset="0"/>
              </a:rPr>
              <a:t>THANK YOU</a:t>
            </a:r>
            <a:endParaRPr lang="en-IN" sz="7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82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</TotalTime>
  <Words>380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Algerian</vt:lpstr>
      <vt:lpstr>Aparajita</vt:lpstr>
      <vt:lpstr>Arial</vt:lpstr>
      <vt:lpstr>Arial Black</vt:lpstr>
      <vt:lpstr>Arial Narrow</vt:lpstr>
      <vt:lpstr>Arial Rounded MT Bold</vt:lpstr>
      <vt:lpstr>Bahnschrift SemiBold Condensed</vt:lpstr>
      <vt:lpstr>Franklin Gothic Medium</vt:lpstr>
      <vt:lpstr>Medical Design 16x9</vt:lpstr>
      <vt:lpstr>Heart Disease Prediction using Machine Learning (Feature Engineering On Healthcare Patient Records)</vt:lpstr>
      <vt:lpstr>Introduction</vt:lpstr>
      <vt:lpstr>Problem Statement</vt:lpstr>
      <vt:lpstr>Dataset Description</vt:lpstr>
      <vt:lpstr>TOOLS &amp;TECHNOLOGY</vt:lpstr>
      <vt:lpstr>Data Processing</vt:lpstr>
      <vt:lpstr>Feature Engineering</vt:lpstr>
      <vt:lpstr>Correlation Analysis</vt:lpstr>
      <vt:lpstr>Model Building</vt:lpstr>
      <vt:lpstr>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Engineering on Healthcare Patient Records</dc:title>
  <dc:creator>admin</dc:creator>
  <cp:lastModifiedBy>admin</cp:lastModifiedBy>
  <cp:revision>10</cp:revision>
  <dcterms:created xsi:type="dcterms:W3CDTF">2026-02-28T11:31:51Z</dcterms:created>
  <dcterms:modified xsi:type="dcterms:W3CDTF">2026-03-11T13:38:19Z</dcterms:modified>
</cp:coreProperties>
</file>